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Multi-Stage Healthcare Cost Prediction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MEPS Longitudinal Data  •  60,602 Patients  •  6 Panels (2013–2018)  •  31 Year-1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468880" cy="32004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46888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  STAGE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</a:defRPr>
            </a:pPr>
            <a:r>
              <a:t>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2C3E50"/>
                </a:solidFill>
              </a:defRPr>
            </a:pPr>
            <a:r>
              <a:t>Raw MEPS ASCII → Parquet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📋 Demographics (6)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🏥 Utilization (4)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💊 Medication (9)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🔬 Chronic flags (4)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📊 Clusters (2)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💰 Y1 Cost (1)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 b="1">
                <a:solidFill>
                  <a:srgbClr val="3498DB"/>
                </a:solidFill>
              </a:defRPr>
            </a:pPr>
            <a:r>
              <a:t>Output: 39 features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3200400"/>
            <a:ext cx="32004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2468880" cy="32004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828800"/>
            <a:ext cx="24688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 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Risk Tier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2C3E50"/>
                </a:solidFill>
              </a:defRPr>
            </a:pPr>
            <a:r>
              <a:t>Random Forest classifier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3 tiers based on Y2 cost: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  Stable (≤ p75) — 75%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  Rising (p75–p90) — 15%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  Shock (&gt; p90) — 10%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ROC-AUC = 0.833</a:t>
            </a:r>
          </a:p>
          <a:p>
            <a:pPr>
              <a:spcAft>
                <a:spcPts val="100"/>
              </a:spcAft>
              <a:defRPr sz="1100" b="1">
                <a:solidFill>
                  <a:srgbClr val="27AE60"/>
                </a:solidFill>
              </a:defRPr>
            </a:pPr>
            <a:r>
              <a:t>Output: LATENT_RISK_SCORE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3200400"/>
            <a:ext cx="32004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468880" cy="32004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24688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🧬  STAGE 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Latent Factor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2C3E50"/>
                </a:solidFill>
              </a:defRPr>
            </a:pPr>
            <a:r>
              <a:t>4 intermediate variables: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📈 Engagement Score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🔍 Undiagnosed Risk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⬆️ Escalation Score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💊 Adherence Risk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Cross-validated predictions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Captures within-tier signals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3200400"/>
            <a:ext cx="32004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1828800"/>
            <a:ext cx="2468880" cy="32004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06840" y="1828800"/>
            <a:ext cx="246888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💰  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</a:defRPr>
            </a:pPr>
            <a:r>
              <a:t>Cost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2C3E50"/>
                </a:solidFill>
              </a:defRPr>
            </a:pPr>
            <a:r>
              <a:t>Tier-specific XGBoost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Target: log(1 + cost)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1 model per tier +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6 interaction features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 b="1">
                <a:solidFill>
                  <a:srgbClr val="E74C3C"/>
                </a:solidFill>
              </a:defRPr>
            </a:pPr>
            <a:r>
              <a:t>R² (log) = 0.600</a:t>
            </a:r>
          </a:p>
          <a:p>
            <a:pPr>
              <a:spcAft>
                <a:spcPts val="100"/>
              </a:spcAft>
              <a:defRPr sz="1100" b="1">
                <a:solidFill>
                  <a:srgbClr val="E74C3C"/>
                </a:solidFill>
              </a:defRPr>
            </a:pPr>
            <a:r>
              <a:t>R² ($) = 0.480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Ablation confirms each</a:t>
            </a:r>
          </a:p>
          <a:p>
            <a:pPr>
              <a:spcAft>
                <a:spcPts val="100"/>
              </a:spcAft>
              <a:defRPr sz="1100">
                <a:solidFill>
                  <a:srgbClr val="2C3E50"/>
                </a:solidFill>
              </a:defRPr>
            </a:pPr>
            <a:r>
              <a:t>stage adds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</a:defRPr>
            </a:pPr>
            <a:r>
              <a:t>🔒 Data Leakage Prevention: All features Y1-only  •  Out-of-fold Stage 1 probabilities  •  Cross-validated Stage 1.5 factors  •  Panel-stratified splits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🎯  Stage 1: Risk Tier Classification —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5029200" cy="25603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7AE60"/>
                </a:solidFill>
              </a:defRPr>
            </a:pPr>
            <a:r>
              <a:t>Model Benchmark</a:t>
            </a:r>
          </a:p>
          <a:p>
            <a:pPr>
              <a:spcAft>
                <a:spcPts val="300"/>
              </a:spcAft>
              <a:defRPr sz="600" b="0"/>
            </a:pPr>
          </a:p>
          <a:p>
            <a:pPr>
              <a:spcAft>
                <a:spcPts val="300"/>
              </a:spcAft>
              <a:defRPr sz="1100" b="1">
                <a:solidFill>
                  <a:srgbClr val="7F8C8D"/>
                </a:solidFill>
              </a:defRPr>
            </a:pPr>
            <a:r>
              <a:t>Model               Accuracy   F1 Macro   ROC-AUC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Random Forest ✓    0.684       0.579        0.833</a:t>
            </a:r>
          </a:p>
          <a:p>
            <a:pPr>
              <a:spcAft>
                <a:spcPts val="300"/>
              </a:spcAft>
              <a:defRPr sz="1100" b="0">
                <a:solidFill>
                  <a:srgbClr val="7F8C8D"/>
                </a:solidFill>
              </a:defRPr>
            </a:pPr>
            <a:r>
              <a:t>XGBoost               0.762       0.539        0.834</a:t>
            </a:r>
          </a:p>
          <a:p>
            <a:pPr>
              <a:spcAft>
                <a:spcPts val="300"/>
              </a:spcAft>
              <a:defRPr sz="1100" b="0">
                <a:solidFill>
                  <a:srgbClr val="7F8C8D"/>
                </a:solidFill>
              </a:defRPr>
            </a:pPr>
            <a:r>
              <a:t>GradientBoosting    0.760       0.534        0.833</a:t>
            </a:r>
          </a:p>
          <a:p>
            <a:pPr>
              <a:spcAft>
                <a:spcPts val="300"/>
              </a:spcAft>
              <a:defRPr sz="1100" b="0">
                <a:solidFill>
                  <a:srgbClr val="7F8C8D"/>
                </a:solidFill>
              </a:defRPr>
            </a:pPr>
            <a:r>
              <a:t>Logistic Reg          0.682       0.547        0.805</a:t>
            </a:r>
          </a:p>
          <a:p>
            <a:pPr>
              <a:spcAft>
                <a:spcPts val="300"/>
              </a:spcAft>
              <a:defRPr sz="400" b="0"/>
            </a:pPr>
          </a:p>
          <a:p>
            <a:pPr>
              <a:spcAft>
                <a:spcPts val="300"/>
              </a:spcAft>
              <a:defRPr sz="1000" b="0">
                <a:solidFill>
                  <a:srgbClr val="27AE60"/>
                </a:solidFill>
              </a:defRPr>
            </a:pPr>
            <a:r>
              <a:t>✓ Selected by F1 Macro (balanced across all 3 tiers)</a:t>
            </a:r>
          </a:p>
          <a:p>
            <a:pPr>
              <a:spcAft>
                <a:spcPts val="300"/>
              </a:spcAft>
              <a:defRPr sz="1000" b="0">
                <a:solidFill>
                  <a:srgbClr val="7F8C8D"/>
                </a:solidFill>
              </a:defRPr>
            </a:pPr>
            <a:r>
              <a:t>Accuracy &lt; 75% baseline is intentional: trades majority-class</a:t>
            </a:r>
          </a:p>
          <a:p>
            <a:pPr>
              <a:spcAft>
                <a:spcPts val="300"/>
              </a:spcAft>
              <a:defRPr sz="1000" b="0">
                <a:solidFill>
                  <a:srgbClr val="7F8C8D"/>
                </a:solidFill>
              </a:defRPr>
            </a:pPr>
            <a:r>
              <a:t>precision for better minority-class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840480"/>
            <a:ext cx="5029200" cy="19202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27AE60"/>
                </a:solidFill>
              </a:defRPr>
            </a:pPr>
            <a:r>
              <a:t>Per-Class Performance</a:t>
            </a:r>
          </a:p>
          <a:p>
            <a:pPr>
              <a:spcAft>
                <a:spcPts val="300"/>
              </a:spcAft>
              <a:defRPr sz="400" b="0"/>
            </a:pPr>
          </a:p>
          <a:p>
            <a:pPr>
              <a:spcAft>
                <a:spcPts val="300"/>
              </a:spcAft>
              <a:defRPr sz="1100" b="1">
                <a:solidFill>
                  <a:srgbClr val="7F8C8D"/>
                </a:solidFill>
              </a:defRPr>
            </a:pPr>
            <a:r>
              <a:t>  Tier         Precision   Recall   F1      Support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  🟢 Stable     0.90         0.76      0.82    6,531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  🟡 Rising     0.32         0.58      0.42    1,504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  🔴 Shock      0.55         0.44      0.49    1,103</a:t>
            </a:r>
          </a:p>
          <a:p>
            <a:pPr>
              <a:spcAft>
                <a:spcPts val="300"/>
              </a:spcAft>
              <a:defRPr sz="400" b="0"/>
            </a:pPr>
          </a:p>
          <a:p>
            <a:pPr>
              <a:spcAft>
                <a:spcPts val="300"/>
              </a:spcAft>
              <a:defRPr sz="1000" b="0">
                <a:solidFill>
                  <a:srgbClr val="E74C3C"/>
                </a:solidFill>
              </a:defRPr>
            </a:pPr>
            <a:r>
              <a:t>Shock recall (44%) = key area for improvement.</a:t>
            </a:r>
          </a:p>
        </p:txBody>
      </p:sp>
      <p:pic>
        <p:nvPicPr>
          <p:cNvPr id="7" name="Picture 6" descr="shap_summary_sh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217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🧬  Stage 1.5: Intermediate Latent Factor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515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Stage 1 captures between-tier variation. Stage 1.5 captures within-tier clinical signals that raw features cannot express directly.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91640"/>
            <a:ext cx="2788920" cy="21945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📈 Engagement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</a:defRPr>
            </a:pPr>
            <a:r>
              <a:t>ENGAGEMENT_SCORE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2103120"/>
            <a:ext cx="118872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Direct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Proactive (office) vs crisis (ER) care pattern.</a:t>
            </a:r>
            <a:br/>
            <a:r>
              <a:t>Formula: Norm(OB) − Norm(ER) − 0.5×Norm(IP)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91640"/>
            <a:ext cx="2788920" cy="21945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373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🔍 Undiagnosed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</a:defRPr>
            </a:pPr>
            <a:r>
              <a:t>PROB_UNDIAGNOSED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103120"/>
            <a:ext cx="118872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RF + CV 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Identifies hidden risers: low Y1 cost but</a:t>
            </a:r>
            <a:br/>
            <a:r>
              <a:t>high Y2 risk. Target = IS_JUMPER.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2788920" cy="21945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⬆️ Escalation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</a:defRPr>
            </a:pPr>
            <a:r>
              <a:t>ESCALATION_SCORE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103120"/>
            <a:ext cx="118872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Composite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Comorbidity-driven risk: chronic count +</a:t>
            </a:r>
            <a:br/>
            <a:r>
              <a:t>ill-defined Dx + IP stays + polypharmacy.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691640"/>
            <a:ext cx="2788920" cy="21945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7373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💊 Adherence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03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</a:defRPr>
            </a:pPr>
            <a:r>
              <a:t>HAZARD_DISCONTINUE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2103120"/>
            <a:ext cx="118872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GB + CV 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46888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Medication adherence from Rx timeline:</a:t>
            </a:r>
            <a:br/>
            <a:r>
              <a:t>density, gap ratio, trailing gap, regularity.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❌ Removed: PROB_MH_DECLINE — r = 0.01 with cost, only MNHLTH_RD1 mattered (redundant with original feature)</a:t>
            </a:r>
          </a:p>
        </p:txBody>
      </p:sp>
      <p:pic>
        <p:nvPicPr>
          <p:cNvPr id="25" name="Picture 24" descr="latent_factors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389120"/>
            <a:ext cx="5669280" cy="2286000"/>
          </a:xfrm>
          <a:prstGeom prst="rect">
            <a:avLst/>
          </a:prstGeom>
        </p:spPr>
      </p:pic>
      <p:pic>
        <p:nvPicPr>
          <p:cNvPr id="26" name="Picture 25" descr="latent_risk_scor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389120"/>
            <a:ext cx="56692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💰  Stage 2: Tier-Specific Expenditure Prediction — Results</a:t>
            </a:r>
          </a:p>
        </p:txBody>
      </p:sp>
      <p:pic>
        <p:nvPicPr>
          <p:cNvPr id="3" name="Picture 2" descr="stage2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68680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052560" y="1005840"/>
            <a:ext cx="292608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0972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E74C3C"/>
                </a:solidFill>
              </a:defRPr>
            </a:pPr>
            <a:r>
              <a:t>Overall R²</a:t>
            </a:r>
          </a:p>
          <a:p>
            <a:pPr algn="ctr">
              <a:spcAft>
                <a:spcPts val="300"/>
              </a:spcAft>
              <a:defRPr sz="400" b="0"/>
            </a:pPr>
          </a:p>
          <a:p>
            <a:pPr algn="ctr">
              <a:spcAft>
                <a:spcPts val="300"/>
              </a:spcAft>
              <a:defRPr sz="1600" b="1">
                <a:solidFill>
                  <a:srgbClr val="2C3E50"/>
                </a:solidFill>
              </a:defRPr>
            </a:pPr>
            <a:r>
              <a:t>log scale:  0.600</a:t>
            </a:r>
          </a:p>
          <a:p>
            <a:pPr algn="ctr">
              <a:spcAft>
                <a:spcPts val="300"/>
              </a:spcAft>
              <a:defRPr sz="1400" b="0">
                <a:solidFill>
                  <a:srgbClr val="7F8C8D"/>
                </a:solidFill>
              </a:defRPr>
            </a:pPr>
            <a:r>
              <a:t>dollar:      0.480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2560320"/>
            <a:ext cx="2926080" cy="21031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265176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E74C3C"/>
                </a:solidFill>
              </a:defRPr>
            </a:pPr>
            <a:r>
              <a:t>Within-Tier R² (log)</a:t>
            </a:r>
          </a:p>
          <a:p>
            <a:pPr>
              <a:spcAft>
                <a:spcPts val="300"/>
              </a:spcAft>
              <a:defRPr sz="400" b="0"/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</a:defRPr>
            </a:pPr>
            <a:r>
              <a:t>🟢 Stable   0.372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</a:defRPr>
            </a:pPr>
            <a:r>
              <a:t>🟡 Rising    0.046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</a:defRPr>
            </a:pPr>
            <a:r>
              <a:t>🔴 Shock    0.136</a:t>
            </a:r>
          </a:p>
          <a:p>
            <a:pPr>
              <a:spcAft>
                <a:spcPts val="300"/>
              </a:spcAft>
              <a:defRPr sz="400" b="0"/>
            </a:pPr>
          </a:p>
          <a:p>
            <a:pPr>
              <a:spcAft>
                <a:spcPts val="300"/>
              </a:spcAft>
              <a:defRPr sz="1100" b="1">
                <a:solidFill>
                  <a:srgbClr val="7F8C8D"/>
                </a:solidFill>
              </a:defRPr>
            </a:pPr>
            <a:r>
              <a:t>MAE:</a:t>
            </a:r>
          </a:p>
          <a:p>
            <a:pPr>
              <a:spcAft>
                <a:spcPts val="300"/>
              </a:spcAft>
              <a:defRPr sz="1000" b="0">
                <a:solidFill>
                  <a:srgbClr val="7F8C8D"/>
                </a:solidFill>
              </a:defRPr>
            </a:pPr>
            <a:r>
              <a:t>Stable $808 | Rising $2.7K</a:t>
            </a:r>
          </a:p>
          <a:p>
            <a:pPr>
              <a:spcAft>
                <a:spcPts val="300"/>
              </a:spcAft>
              <a:defRPr sz="1000" b="0">
                <a:solidFill>
                  <a:srgbClr val="7F8C8D"/>
                </a:solidFill>
              </a:defRPr>
            </a:pPr>
            <a:r>
              <a:t>Shock $24.2K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4846320"/>
            <a:ext cx="292608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49377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3498DB"/>
                </a:solidFill>
              </a:defRPr>
            </a:pPr>
            <a:r>
              <a:t>Method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XGBoost per tier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Target: log(1+cost)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+ 6 interaction features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</a:defRPr>
            </a:pPr>
            <a:r>
              <a:t>+ Stage 1.5 latent factors</a:t>
            </a:r>
          </a:p>
          <a:p>
            <a:pPr>
              <a:spcAft>
                <a:spcPts val="300"/>
              </a:spcAft>
              <a:defRPr sz="1100" b="0">
                <a:solidFill>
                  <a:srgbClr val="7F8C8D"/>
                </a:solidFill>
              </a:defRPr>
            </a:pPr>
            <a:r>
              <a:t>Early stopping on val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📊  Ablation Study &amp; Key Findings</a:t>
            </a:r>
          </a:p>
        </p:txBody>
      </p:sp>
      <p:pic>
        <p:nvPicPr>
          <p:cNvPr id="3" name="Picture 2" descr="stage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2743200"/>
          </a:xfrm>
          <a:prstGeom prst="rect">
            <a:avLst/>
          </a:prstGeom>
        </p:spPr>
      </p:pic>
      <p:pic>
        <p:nvPicPr>
          <p:cNvPr id="4" name="Picture 3" descr="feature_importance_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31920"/>
            <a:ext cx="457200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49440" y="1097280"/>
            <a:ext cx="5029200" cy="10058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0880" y="123444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1704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Multi-Stage Justified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44475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Each stage adds incremental R².</a:t>
            </a:r>
            <a:br/>
            <a:r>
              <a:t>Ablation confirms Stage 1.5 latent factors</a:t>
            </a:r>
            <a:br/>
            <a:r>
              <a:t>improve prediction beyond original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94560"/>
            <a:ext cx="5029200" cy="10058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0" y="2331720"/>
            <a:ext cx="640080" cy="6400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677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</a:defRPr>
            </a:pPr>
            <a:r>
              <a:t>R² = 0.60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4203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Competitive for individual-level cost prediction</a:t>
            </a:r>
            <a:br/>
            <a:r>
              <a:t>from survey data. Standard in health economics</a:t>
            </a:r>
            <a:br/>
            <a:r>
              <a:t>(Bertsimas et al. 2008, Rose 2016).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291840"/>
            <a:ext cx="5029200" cy="10058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342900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64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</a:defRPr>
            </a:pPr>
            <a:r>
              <a:t>Tier-Specific &gt;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63931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Separate models per tier outperform a single</a:t>
            </a:r>
            <a:br/>
            <a:r>
              <a:t>global model. Stage 1.5 factors drive within-tier</a:t>
            </a:r>
            <a:br/>
            <a:r>
              <a:t>differentiation.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389120"/>
            <a:ext cx="5029200" cy="10058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0" y="452628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4622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3659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Rising tier R² remains low (0.046).</a:t>
            </a:r>
            <a:br/>
            <a:r>
              <a:t>Shock recall at 44% in Stage 1.</a:t>
            </a:r>
            <a:br/>
            <a:r>
              <a:t>Survey data inherently limits precision.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5486400"/>
            <a:ext cx="5029200" cy="10058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0880" y="562356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55955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</a:defRPr>
            </a:pPr>
            <a:r>
              <a:t>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83387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Hyperparameter tuning (Bayesian optimization).</a:t>
            </a:r>
            <a:br/>
            <a:r>
              <a:t>Stacking ensemble. Feature selection refinement.</a:t>
            </a:r>
            <a:br/>
            <a:r>
              <a:t>External validation on held-out panels.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